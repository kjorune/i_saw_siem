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d28ff9b4dc4ee2" /><Relationship Type="http://schemas.openxmlformats.org/officeDocument/2006/relationships/extended-properties" Target="/docProps/app.xml" Id="R4473beb8bdbe46dd" /><Relationship Type="http://schemas.openxmlformats.org/officeDocument/2006/relationships/officeDocument" Target="/ppt/presentation.xml" Id="R20ae56bf23e24e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0cb857147e41e1"/>
  </p:sldMasterIdLst>
  <p:notesMasterIdLst>
    <p:notesMasterId xmlns:r="http://schemas.openxmlformats.org/officeDocument/2006/relationships" r:id="R87bf853d300348bb"/>
  </p:notesMasterIdLst>
  <p:sldIdLst>
    <p:sldId xmlns:r="http://schemas.openxmlformats.org/officeDocument/2006/relationships" id="256" r:id="R0ba2d230e29a42f2"/>
    <p:sldId xmlns:r="http://schemas.openxmlformats.org/officeDocument/2006/relationships" id="257" r:id="R2e5a5e129db047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2a6697b6e140e2" /><Relationship Type="http://schemas.openxmlformats.org/officeDocument/2006/relationships/slideMaster" Target="/ppt/slideMasters/slideMaster1.xml" Id="R680cb857147e41e1" /><Relationship Type="http://schemas.openxmlformats.org/officeDocument/2006/relationships/notesMaster" Target="/ppt/notesMasters/notesMaster1.xml" Id="R87bf853d300348bb" /><Relationship Type="http://schemas.openxmlformats.org/officeDocument/2006/relationships/presProps" Target="/ppt/presProps.xml" Id="R5723abb4a4714227" /><Relationship Type="http://schemas.openxmlformats.org/officeDocument/2006/relationships/tableStyles" Target="/ppt/tableStyles.xml" Id="Rf60b2ec14fac4ba5" /><Relationship Type="http://schemas.openxmlformats.org/officeDocument/2006/relationships/slide" Target="/ppt/slides/slide1.xml" Id="R0ba2d230e29a42f2" /><Relationship Type="http://schemas.openxmlformats.org/officeDocument/2006/relationships/slide" Target="/ppt/slides/slide2.xml" Id="R2e5a5e129db0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41e48511864f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3827b2ae664f6a" /><Relationship Type="http://schemas.openxmlformats.org/officeDocument/2006/relationships/notesMaster" Target="/ppt/notesMasters/notesMaster1.xml" Id="R959f40c910df44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30fae19b97411a" /><Relationship Type="http://schemas.openxmlformats.org/officeDocument/2006/relationships/notesMaster" Target="/ppt/notesMasters/notesMaster1.xml" Id="Rcbfa6168cb36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cdf210861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e42165097c49b8" /><Relationship Type="http://schemas.openxmlformats.org/officeDocument/2006/relationships/slideLayout" Target="/ppt/slideLayouts/slideLayout1.xml" Id="R7a50829b66304c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50829b66304c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a4e2a07bc4fe7" /><Relationship Type="http://schemas.openxmlformats.org/officeDocument/2006/relationships/notesSlide" Target="/ppt/notesSlides/notesSlide1.xml" Id="R0b10138bfc76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721d609d943e7" /><Relationship Type="http://schemas.openxmlformats.org/officeDocument/2006/relationships/notesSlide" Target="/ppt/notesSlides/notesSlide2.xml" Id="Ra7aa545ddf5d43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FADDD7-03EA-4370-98B8-57EBD75C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B5D4"/>
                </a:solidFill>
                <a:latin typeface="Paperlogy"/>
                <a:ea typeface="Paperlogy"/>
                <a:cs typeface="Paperlogy"/>
              </a:defRPr>
            </a:pPr>
            <a:r>
              <a:rPr sz="975" b="1">
                <a:solidFill>
                  <a:srgbClr val="25B5D4"/>
                </a:solidFill>
                <a:latin typeface="Paperlogy"/>
                <a:ea typeface="Paperlogy"/>
                <a:cs typeface="Paperlogy"/>
              </a:rPr>
              <a:t>01. 분석 문제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651EE-A591-4EAF-B047-5B088064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750" b="1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SECURITY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93063-5A24-49EC-974B-2DA9C5C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라벨 없이 행동의 이상 정도를 위험점수로 계산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5DF95-287C-4B8E-A85E-7C9663C6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X = 행동지표 / Y 없음 / 최종 Output = Risk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E6973-31E8-4892-B0ED-10C3B675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675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2C72D-5E03-4B53-8CDB-EDC376D1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4762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7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EA75C-A5D2-4662-AA41-E0CA2B4E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B5D4"/>
                </a:solidFill>
                <a:latin typeface="Paperlogy"/>
                <a:ea typeface="Paperlogy"/>
                <a:cs typeface="Paperlogy"/>
              </a:defRPr>
            </a:pPr>
            <a:r>
              <a:rPr sz="825" b="1">
                <a:solidFill>
                  <a:srgbClr val="25B5D4"/>
                </a:solidFill>
                <a:latin typeface="Paperlogy"/>
                <a:ea typeface="Paperlogy"/>
                <a:cs typeface="Paperlogy"/>
              </a:rPr>
              <a:t>X ·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5331B-A9CE-469E-9BB6-B0938A08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이메일 행동지표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64AD6-9735-45ED-85FE-5AD5E23B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38300"/>
            <a:ext cx="2171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ED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89287-661D-4112-BD51-7B3B2850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097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5E5E"/>
                </a:solidFill>
                <a:latin typeface="Paperlogy"/>
                <a:ea typeface="Paperlogy"/>
                <a:cs typeface="Paperlogy"/>
              </a:defRPr>
            </a:pPr>
            <a:r>
              <a:rPr sz="825" b="1">
                <a:solidFill>
                  <a:srgbClr val="DD5E5E"/>
                </a:solidFill>
                <a:latin typeface="Paperlogy"/>
                <a:ea typeface="Paperlogy"/>
                <a:cs typeface="Paperlogy"/>
              </a:rPr>
              <a:t>Y ·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6DB43-6974-4818-AFCD-0AB7C6F9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955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정답 라벨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2B175-2359-4193-921F-9E1BDA8B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38300"/>
            <a:ext cx="3848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A30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BA0B0-79A6-4EB6-990C-E3EA2E58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82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EB127-2FAB-4CD4-8934-AB481A13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Risk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2BF48-7F1D-47EA-BCE2-BABA74F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825" b="0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외부메일 수 · 외부 수신자 수 · 첨부파일 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C041C-5617-4EC4-9885-A70F5B3A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825" b="0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메일 크기 · BCC · 비정상 시간대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1DECE-81AB-404B-9354-67472E9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825" b="0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신규 외부 수신자·도메인 · 반복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9FBE2-5F71-4F1C-B47F-CE241A7F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5E5E"/>
                </a:solidFill>
                <a:latin typeface="Paperlogy"/>
                <a:ea typeface="Paperlogy"/>
                <a:cs typeface="Paperlogy"/>
              </a:defRPr>
            </a:pPr>
            <a:r>
              <a:rPr sz="900" b="1">
                <a:solidFill>
                  <a:srgbClr val="DD5E5E"/>
                </a:solidFill>
                <a:latin typeface="Paperlogy"/>
                <a:ea typeface="Paperlogy"/>
                <a:cs typeface="Paperlogy"/>
              </a:rPr>
              <a:t>정상/악성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09EE5-C181-4825-87FD-2D74BA08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194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5E5E"/>
                </a:solidFill>
                <a:latin typeface="Paperlogy"/>
                <a:ea typeface="Paperlogy"/>
                <a:cs typeface="Paperlogy"/>
              </a:defRPr>
            </a:pPr>
            <a:r>
              <a:rPr sz="900" b="1">
                <a:solidFill>
                  <a:srgbClr val="DD5E5E"/>
                </a:solidFill>
                <a:latin typeface="Paperlogy"/>
                <a:ea typeface="Paperlogy"/>
                <a:cs typeface="Paperlogy"/>
              </a:rPr>
              <a:t>유출/비유출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D4300-6095-4FD3-B5EE-9152921C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900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위험순위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FE5B8-2136-4E39-94A2-79500792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479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900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점수 산정 근거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2B1FA-1F0C-480E-8258-04DA2E72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CBB03-DF1B-4F1E-9A72-1E9AE60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900" b="1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문제 유형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32201-08BB-4880-9511-5DF4E78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비지도·통계 기반 위험 스코어링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7E54D-88AC-40A9-BCEE-646404F5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4819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0E3F3-BBD7-4A57-8A39-252BF84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사용자 기준선 대비 편차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BF653-3D44-43B6-A7FD-9BE1C8DC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B5D4"/>
                </a:solidFill>
                <a:latin typeface="Paperlogy"/>
                <a:ea typeface="Paperlogy"/>
                <a:cs typeface="Paperlogy"/>
              </a:defRPr>
            </a:pPr>
            <a:r>
              <a:rPr sz="1350" b="1">
                <a:solidFill>
                  <a:srgbClr val="25B5D4"/>
                </a:solidFill>
                <a:latin typeface="Paperlogy"/>
                <a:ea typeface="Paperlogy"/>
                <a:cs typeface="Paperlogy"/>
              </a:rPr>
              <a:t>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00DA2F-B05C-4AB6-9AF6-5BB3AF7C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57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복합·반복 행동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18C73-E388-4BCB-ADE4-530E58B6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825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개별 이상신호를 종합해 조사 우선순위를 제공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3904D-764B-4AB0-A9F9-359B934B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63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F7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595EC7-6456-4A7C-8A96-863FA750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5D4"/>
                </a:solidFill>
                <a:latin typeface="Paperlogy"/>
                <a:ea typeface="Paperlogy"/>
                <a:cs typeface="Paperlogy"/>
              </a:defRPr>
            </a:pPr>
            <a:r>
              <a:rPr sz="900" b="1">
                <a:solidFill>
                  <a:srgbClr val="25B5D4"/>
                </a:solidFill>
                <a:latin typeface="Paperlogy"/>
                <a:ea typeface="Paperlogy"/>
                <a:cs typeface="Paperlogy"/>
              </a:rPr>
              <a:t>핵심 정의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36A06-BF4E-40CE-A26B-A6AC58EF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4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정답을 맞히는 분류 모델이 아니라, 사용자의 평소 행동에서 벗어난 정도를 계산하는 분석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429E69-E41C-4660-8F88-3328F7C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실제 정보유출자를 확정하지 않으며, 외부 유출 위험이 높은 사용자를 우선 검토 대상으로 제시</a:t>
            </a:r>
          </a:p>
        </p:txBody>
      </p:sp>
    </p:spTree>
    <p:extLst>
      <p:ext uri="{BB962C8B-B14F-4D97-AF65-F5344CB8AC3E}">
        <p14:creationId xmlns:p14="http://schemas.microsoft.com/office/powerpoint/2010/main" val="1719626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A893FD-9E00-4D82-A60B-765C17E9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B5D4"/>
                </a:solidFill>
                <a:latin typeface="Paperlogy"/>
                <a:ea typeface="Paperlogy"/>
                <a:cs typeface="Paperlogy"/>
              </a:defRPr>
            </a:pPr>
            <a:r>
              <a:rPr sz="975" b="1">
                <a:solidFill>
                  <a:srgbClr val="25B5D4"/>
                </a:solidFill>
                <a:latin typeface="Paperlogy"/>
                <a:ea typeface="Paperlogy"/>
                <a:cs typeface="Paperlogy"/>
              </a:rPr>
              <a:t>02. 분석 구조와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049B5-B9B6-4AF2-883B-151199BA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750" b="1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SECURITY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145CF-4FE4-4BFC-AEEF-D30CEE66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기준선에서 위험순위와 산정 근거까지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CC2F7-FB7D-4FE4-B947-8BE04381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공식 표현: 사용자 행동 기준선 기반 통계적 이상탐지 및 위험 스코어링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78911-CB24-4226-90CA-BBFC6A0E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675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DDE97-E185-40D9-8CEC-EBDC4B37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4573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5F7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586A8-6E75-469E-95FA-58663FB4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6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6AC05-FA69-4EB8-83A8-43A8156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Security</a:t>
            </a:r>
          </a:p>
          <a:p xmlns:a="http://schemas.openxmlformats.org/drawingml/2006/main">
            <a:pPr algn="ctr">
              <a:def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74AF7-72E5-4F93-B9AF-10980B61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66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018FD-890A-49B9-B36C-A8951BD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638300"/>
            <a:ext cx="14573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5F7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60985-ACD9-40FB-AA2C-E2DF90D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33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6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52A62-4480-4FAC-96EC-9DEBBD01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43100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Email</a:t>
            </a:r>
          </a:p>
          <a:p xmlns:a="http://schemas.openxmlformats.org/drawingml/2006/main">
            <a:pPr algn="ctr">
              <a:def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Feature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88C6B-D458-4705-B098-C43925FB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66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D2EBF-7AC8-4903-99BA-F6C7007C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38300"/>
            <a:ext cx="14573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5F7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E2CC2-435F-489D-8DF0-A5006A0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6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6E292-F5E0-4660-9933-3395BF2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User</a:t>
            </a:r>
          </a:p>
          <a:p xmlns:a="http://schemas.openxmlformats.org/drawingml/2006/main">
            <a:pPr algn="ctr">
              <a:def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7C3E9-C1D2-4858-A55F-5AF70830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66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BC9BC-83C8-49FA-AFFE-8F17422B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38300"/>
            <a:ext cx="14573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5B5D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AB428-E908-4CF2-B5C9-2B9EF8F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33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67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35DAA-9BC8-40E3-82F3-783E3B70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943100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Anomaly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291E4-2402-4E35-BBCE-3054B50E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66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5C272-B9BB-421E-AF61-E8B05390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38300"/>
            <a:ext cx="14573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A304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9C5DA-62F1-4C5D-B5E9-6C39FDC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33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67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FD3FB-1326-4273-AB95-92676A9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43100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Weighted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Risk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ECF29-36C6-47AC-9CA9-D1152CD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66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0B3BF-9BAD-451D-B9E0-377020E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638300"/>
            <a:ext cx="14573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A30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EF4559-E956-4B61-AFF1-7213AEFA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33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67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EAA1F6-8E77-4558-BD6C-A785A8B2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43100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Risk User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Ranking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E6521-2C35-4651-9A62-A5C15045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669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05E9E9-39E2-45CD-BC03-69E5B915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38300"/>
            <a:ext cx="14573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6D55F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3BBA44-8CF4-4BAF-B59A-EB1CD86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33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67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F746E3-F32E-4F09-8E12-F27D3B41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산정 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518713-ADE0-4583-A015-93E9F14D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2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분석 범위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ED55F5-BB38-46E0-9889-43183156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53149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01990C-C17E-41DC-8549-30D3617A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B5D4"/>
                </a:solidFill>
                <a:latin typeface="Paperlogy"/>
                <a:ea typeface="Paperlogy"/>
                <a:cs typeface="Paperlogy"/>
              </a:defRPr>
            </a:pPr>
            <a:r>
              <a:rPr sz="825" b="1">
                <a:solidFill>
                  <a:srgbClr val="25B5D4"/>
                </a:solidFill>
                <a:latin typeface="Paperlogy"/>
                <a:ea typeface="Paperlogy"/>
                <a:cs typeface="Paperlogy"/>
              </a:rPr>
              <a:t>목표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0FB55D-765A-4AE5-AD48-F04A0FA5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5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외부 전송 이상징후 탐지와</a:t>
            </a:r>
          </a:p>
          <a:p xmlns:a="http://schemas.openxmlformats.org/drawingml/2006/main">
            <a:pPr algn="l">
              <a:defRPr sz="15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5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위험 사용자 우선순위화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516C9-3142-434C-8B0F-443247A4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21D0C8-3E58-499C-B6DD-24F68785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5E5E"/>
                </a:solidFill>
                <a:latin typeface="Paperlogy"/>
                <a:ea typeface="Paperlogy"/>
                <a:cs typeface="Paperlogy"/>
              </a:defRPr>
            </a:pPr>
            <a:r>
              <a:rPr sz="825" b="1">
                <a:solidFill>
                  <a:srgbClr val="DD5E5E"/>
                </a:solidFill>
                <a:latin typeface="Paperlogy"/>
                <a:ea typeface="Paperlogy"/>
                <a:cs typeface="Paperlogy"/>
              </a:rPr>
              <a:t>제약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9AC4F2-C254-4C17-86C3-36C47C0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12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정답 라벨 없음 · activity 컬럼 없음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CEF419-4844-4F7F-AA4E-F04044B2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825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결과는 유출 확정이 아닌 조사 우선순위로 해석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18726C-8008-495E-AEB2-E20F1106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90850"/>
            <a:ext cx="56388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E5F7F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C8EC7F-1046-4D54-AAE8-47E152E8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12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검증 원칙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9B0426-7B91-4BEF-8D97-859A4299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86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5D4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1DA87A-E924-4465-B645-D536A4E4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정상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3955BE-442A-49DE-9B6F-168D42E2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기준선 범위의 낮은 점수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69E2AA-6FE3-4A33-8260-DDD77325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624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7C9766-B59F-4E75-9AE8-7D91FDB6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046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009050-11CB-454F-997E-120694D4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862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단일 이상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99C464-892E-4858-B714-51BFE676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86225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한 지표 편차에 따른 점수 상승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FB5B86-676B-4704-BE52-8F9A6A64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10075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F22309-81F2-4209-8673-06A0884E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81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04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4B6DBE-F4C0-4EF3-993E-D669A1FE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복합 이상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07CC8C-4843-4F2B-9D39-267FC413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3390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여러 이상신호 결합 시 추가 상승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C4D5C1-813A-4EB6-8264-9440D1EE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775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4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3615B0-ABAA-44F9-97CC-0976B44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5E5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F45E50-81AB-4955-8935-A9915EF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815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defRPr>
            </a:pPr>
            <a:r>
              <a:rPr sz="975" b="1">
                <a:solidFill>
                  <a:srgbClr val="1A3046"/>
                </a:solidFill>
                <a:latin typeface="Paperlogy"/>
                <a:ea typeface="Paperlogy"/>
                <a:cs typeface="Paperlogy"/>
              </a:rPr>
              <a:t>반복 행동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E618E8-B87C-4438-BFAF-706B469D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81575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99A3AA"/>
                </a:solidFill>
                <a:latin typeface="Paperlogy"/>
                <a:ea typeface="Paperlogy"/>
                <a:cs typeface="Paperlogy"/>
              </a:rPr>
              <a:t>반복·지속 시 위험도 누적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5BF92B-ECBC-4F71-9B84-D242050C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905500"/>
            <a:ext cx="5638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3046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4B6E1B-B887-4FF6-A0A9-A91B9892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96265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900" b="1">
                <a:solidFill>
                  <a:srgbClr val="FFFFFF"/>
                </a:solidFill>
                <a:latin typeface="Paperlogy"/>
                <a:ea typeface="Paperlogy"/>
                <a:cs typeface="Paperlogy"/>
              </a:rPr>
              <a:t>정확도 대신 시나리오별 점수 방향성과 설명 가능성을 검증</a:t>
            </a:r>
          </a:p>
        </p:txBody>
      </p:sp>
    </p:spTree>
    <p:extLst>
      <p:ext uri="{BB962C8B-B14F-4D97-AF65-F5344CB8AC3E}">
        <p14:creationId xmlns:p14="http://schemas.microsoft.com/office/powerpoint/2010/main" val="1889195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2026-09-15T06:59:09.2550000Z</dcterms:created>
  <dcterms:modified xsi:type="dcterms:W3CDTF">2026-09-15T06:59:09.2550000Z</dcterms:modified>
</coreProperties>
</file>